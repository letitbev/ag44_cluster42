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2.svg" ContentType="image/svg"/>
  <Override PartName="/ppt/media/image8.svg" ContentType="image/sv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3.png" ContentType="image/png"/>
  <Override PartName="/ppt/media/image4.png" ContentType="image/png"/>
  <Override PartName="/ppt/media/image10.svg" ContentType="image/svg"/>
  <Override PartName="/ppt/media/image24.png" ContentType="image/png"/>
  <Override PartName="/ppt/media/image23.png" ContentType="image/png"/>
  <Override PartName="/ppt/media/image22.png" ContentType="image/png"/>
  <Override PartName="/ppt/media/image19.png" ContentType="image/png"/>
  <Override PartName="/ppt/media/image17.png" ContentType="image/png"/>
  <Override PartName="/ppt/media/image14.svg" ContentType="image/svg"/>
  <Override PartName="/ppt/media/image15.png" ContentType="image/png"/>
  <Override PartName="/ppt/media/image21.svg" ContentType="image/svg"/>
  <Override PartName="/ppt/media/image1.png" ContentType="image/png"/>
  <Override PartName="/ppt/media/image3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18.png" ContentType="image/png"/>
  <Override PartName="/ppt/media/image2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404C6E9-BAD3-451E-B64C-6B6BF7F34BF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3E0FA8-61A2-45D5-820E-16D61BACBB0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4DB169-6097-47A5-A274-CACA6D33A81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DA20AE-297D-46A1-8D5D-DD071855614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FD691D-8BC6-4242-9531-F773B98DE30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7D8A69-D57A-4D6A-9CA8-A590207AE57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9BE0B0-5D8C-416D-9139-8FD0C6C4B36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BDF77A-F393-4032-80F1-2DFC31FE44C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E4155A-5A7B-4842-86BF-941E227B0F3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47" name="Text 0"/>
          <p:cNvSpPr/>
          <p:nvPr/>
        </p:nvSpPr>
        <p:spPr>
          <a:xfrm>
            <a:off x="6280200" y="3018960"/>
            <a:ext cx="7556040" cy="14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851"/>
              </a:lnSpc>
              <a:tabLst>
                <a:tab algn="l" pos="0"/>
              </a:tabLst>
            </a:pPr>
            <a:r>
              <a:rPr b="0" lang="en-US" sz="4650" spc="-1" strike="noStrike">
                <a:solidFill>
                  <a:srgbClr val="020202"/>
                </a:solidFill>
                <a:latin typeface="PT Serif"/>
                <a:ea typeface="PT Serif"/>
              </a:rPr>
              <a:t>ShockMarket - AI-Powered Virtual Power Plant</a:t>
            </a:r>
            <a:endParaRPr b="0" lang="en-US" sz="4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280200" y="4847760"/>
            <a:ext cx="75560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Intelligent Battery Energy Storage for Grid Optimization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0" name="Shape 0"/>
          <p:cNvSpPr/>
          <p:nvPr/>
        </p:nvSpPr>
        <p:spPr>
          <a:xfrm>
            <a:off x="6280200" y="861120"/>
            <a:ext cx="2043360" cy="425880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6416280" y="929160"/>
            <a:ext cx="17712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3838"/>
                </a:solidFill>
                <a:latin typeface="DM Sans"/>
                <a:ea typeface="DM Sans"/>
              </a:rPr>
              <a:t>MARKET CHALLENGE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6280200" y="1378080"/>
            <a:ext cx="72374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851"/>
              </a:lnSpc>
              <a:tabLst>
                <a:tab algn="l" pos="0"/>
              </a:tabLst>
            </a:pPr>
            <a:r>
              <a:rPr b="0" lang="en-US" sz="4650" spc="-1" strike="noStrike">
                <a:solidFill>
                  <a:srgbClr val="020202"/>
                </a:solidFill>
                <a:latin typeface="PT Serif"/>
                <a:ea typeface="PT Serif"/>
              </a:rPr>
              <a:t>India's Grid Volatility Crisis</a:t>
            </a:r>
            <a:endParaRPr b="0" lang="en-US" sz="4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6280200" y="2689560"/>
            <a:ext cx="35010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020202"/>
                </a:solidFill>
                <a:latin typeface="PT Serif"/>
                <a:ea typeface="PT Serif"/>
              </a:rPr>
              <a:t>Growing Renewable Integration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280200" y="3660480"/>
            <a:ext cx="350100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Solar and wind capacity expansion creates unprecedented price volatility in power markets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280200" y="5316120"/>
            <a:ext cx="35010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Day-Ahead Market (DAM) price swings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6280200" y="6121080"/>
            <a:ext cx="35010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Real-Time Market (RTM) fluctuations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6280200" y="6926400"/>
            <a:ext cx="35010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Grid stability challenges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10342800" y="2689560"/>
            <a:ext cx="297684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020202"/>
                </a:solidFill>
                <a:latin typeface="PT Serif"/>
                <a:ea typeface="PT Serif"/>
              </a:rPr>
              <a:t>The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10342800" y="3288240"/>
            <a:ext cx="35010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Market volatility = profit potential while supporting grid reliability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10342800" y="4218120"/>
            <a:ext cx="35010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Demand-supply imbalance arbitrage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10342800" y="5023080"/>
            <a:ext cx="35010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Ancillary services revenue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10342800" y="5465520"/>
            <a:ext cx="35010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383838"/>
                </a:solidFill>
                <a:latin typeface="DM Sans"/>
                <a:ea typeface="DM Sans"/>
              </a:rPr>
              <a:t>Grid stabilization support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64" name="Shape 0"/>
          <p:cNvSpPr/>
          <p:nvPr/>
        </p:nvSpPr>
        <p:spPr>
          <a:xfrm>
            <a:off x="460800" y="683640"/>
            <a:ext cx="1058040" cy="246960"/>
          </a:xfrm>
          <a:prstGeom prst="roundRect">
            <a:avLst>
              <a:gd name="adj" fmla="val 6391"/>
            </a:avLst>
          </a:prstGeom>
          <a:solidFill>
            <a:srgbClr val="ffde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9640" y="754560"/>
            <a:ext cx="104760" cy="104760"/>
          </a:xfrm>
          <a:prstGeom prst="rect">
            <a:avLst/>
          </a:prstGeom>
          <a:ln w="0">
            <a:noFill/>
          </a:ln>
        </p:spPr>
      </p:pic>
      <p:sp>
        <p:nvSpPr>
          <p:cNvPr id="66" name="Text 1"/>
          <p:cNvSpPr/>
          <p:nvPr/>
        </p:nvSpPr>
        <p:spPr>
          <a:xfrm>
            <a:off x="697320" y="723240"/>
            <a:ext cx="7423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383838"/>
                </a:solidFill>
                <a:latin typeface="DM Sans"/>
                <a:ea typeface="DM Sans"/>
              </a:rPr>
              <a:t>OUR SOLUTION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460800" y="983520"/>
            <a:ext cx="556092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99"/>
              </a:lnSpc>
              <a:tabLst>
                <a:tab algn="l" pos="0"/>
              </a:tabLst>
            </a:pPr>
            <a:r>
              <a:rPr b="0" lang="en-US" sz="2700" spc="-1" strike="noStrike">
                <a:solidFill>
                  <a:srgbClr val="020202"/>
                </a:solidFill>
                <a:latin typeface="PT Serif"/>
                <a:ea typeface="PT Serif"/>
              </a:rPr>
              <a:t>Intelligent Energy Storage Arbitrage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460800" y="1612800"/>
            <a:ext cx="8222400" cy="129456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592200" y="1744560"/>
            <a:ext cx="394560" cy="394560"/>
          </a:xfrm>
          <a:prstGeom prst="roundRect">
            <a:avLst>
              <a:gd name="adj" fmla="val 23158133"/>
            </a:avLst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00920" y="1852920"/>
            <a:ext cx="177120" cy="177120"/>
          </a:xfrm>
          <a:prstGeom prst="rect">
            <a:avLst/>
          </a:prstGeom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592200" y="2270880"/>
            <a:ext cx="17272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83838"/>
                </a:solidFill>
                <a:latin typeface="PT Serif"/>
                <a:ea typeface="PT Serif"/>
              </a:rPr>
              <a:t>100 MWh BESS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92200" y="2565720"/>
            <a:ext cx="7959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83838"/>
                </a:solidFill>
                <a:latin typeface="DM Sans"/>
                <a:ea typeface="DM Sans"/>
              </a:rPr>
              <a:t>Large-scale battery energy storage system for market participation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460800" y="3039480"/>
            <a:ext cx="8222400" cy="129456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592200" y="3170880"/>
            <a:ext cx="394560" cy="394560"/>
          </a:xfrm>
          <a:prstGeom prst="roundRect">
            <a:avLst>
              <a:gd name="adj" fmla="val 23158133"/>
            </a:avLst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00920" y="3279240"/>
            <a:ext cx="177120" cy="177120"/>
          </a:xfrm>
          <a:prstGeom prst="rect">
            <a:avLst/>
          </a:prstGeom>
          <a:ln w="0">
            <a:noFill/>
          </a:ln>
        </p:spPr>
      </p:pic>
      <p:sp>
        <p:nvSpPr>
          <p:cNvPr id="76" name="Text 9"/>
          <p:cNvSpPr/>
          <p:nvPr/>
        </p:nvSpPr>
        <p:spPr>
          <a:xfrm>
            <a:off x="592200" y="3697200"/>
            <a:ext cx="17272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83838"/>
                </a:solidFill>
                <a:latin typeface="PT Serif"/>
                <a:ea typeface="PT Serif"/>
              </a:rPr>
              <a:t>IEX Market Trading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592200" y="3992040"/>
            <a:ext cx="7959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83838"/>
                </a:solidFill>
                <a:latin typeface="DM Sans"/>
                <a:ea typeface="DM Sans"/>
              </a:rPr>
              <a:t>Dual participation in DAM &amp; RTM markets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460800" y="4465800"/>
            <a:ext cx="8222400" cy="129456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592200" y="4597200"/>
            <a:ext cx="394560" cy="394560"/>
          </a:xfrm>
          <a:prstGeom prst="roundRect">
            <a:avLst>
              <a:gd name="adj" fmla="val 23158133"/>
            </a:avLst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00920" y="4705920"/>
            <a:ext cx="177120" cy="177120"/>
          </a:xfrm>
          <a:prstGeom prst="rect">
            <a:avLst/>
          </a:prstGeom>
          <a:ln w="0">
            <a:noFill/>
          </a:ln>
        </p:spPr>
      </p:pic>
      <p:sp>
        <p:nvSpPr>
          <p:cNvPr id="81" name="Text 13"/>
          <p:cNvSpPr/>
          <p:nvPr/>
        </p:nvSpPr>
        <p:spPr>
          <a:xfrm>
            <a:off x="592200" y="5123880"/>
            <a:ext cx="17272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83838"/>
                </a:solidFill>
                <a:latin typeface="PT Serif"/>
                <a:ea typeface="PT Serif"/>
              </a:rPr>
              <a:t>ML Price Forecasting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592200" y="5418360"/>
            <a:ext cx="7959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83838"/>
                </a:solidFill>
                <a:latin typeface="DM Sans"/>
                <a:ea typeface="DM Sans"/>
              </a:rPr>
              <a:t>Advanced algorithms predict optimal trading windows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5"/>
          <p:cNvSpPr/>
          <p:nvPr/>
        </p:nvSpPr>
        <p:spPr>
          <a:xfrm>
            <a:off x="460800" y="5892120"/>
            <a:ext cx="8222400" cy="129456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6"/>
          <p:cNvSpPr/>
          <p:nvPr/>
        </p:nvSpPr>
        <p:spPr>
          <a:xfrm>
            <a:off x="592200" y="6023880"/>
            <a:ext cx="394560" cy="394560"/>
          </a:xfrm>
          <a:prstGeom prst="roundRect">
            <a:avLst>
              <a:gd name="adj" fmla="val 23158133"/>
            </a:avLst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5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00920" y="6132240"/>
            <a:ext cx="177120" cy="177120"/>
          </a:xfrm>
          <a:prstGeom prst="rect">
            <a:avLst/>
          </a:prstGeom>
          <a:ln w="0">
            <a:noFill/>
          </a:ln>
        </p:spPr>
      </p:pic>
      <p:sp>
        <p:nvSpPr>
          <p:cNvPr id="86" name="Text 17"/>
          <p:cNvSpPr/>
          <p:nvPr/>
        </p:nvSpPr>
        <p:spPr>
          <a:xfrm>
            <a:off x="592200" y="6550200"/>
            <a:ext cx="17272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83838"/>
                </a:solidFill>
                <a:latin typeface="PT Serif"/>
                <a:ea typeface="PT Serif"/>
              </a:rPr>
              <a:t>Smart Dispatch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592200" y="6845040"/>
            <a:ext cx="7959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83838"/>
                </a:solidFill>
                <a:latin typeface="DM Sans"/>
                <a:ea typeface="DM Sans"/>
              </a:rPr>
              <a:t>Buy low, sell high while maintaining grid reserves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460800" y="7335360"/>
            <a:ext cx="82224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83838"/>
                </a:solidFill>
                <a:latin typeface="DM Sans"/>
                <a:ea typeface="DM Sans"/>
              </a:rPr>
              <a:t>Revenue generation through intelligent arbitrage + ancillary grid services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1132920" y="539280"/>
            <a:ext cx="1965600" cy="381960"/>
          </a:xfrm>
          <a:prstGeom prst="roundRect">
            <a:avLst>
              <a:gd name="adj" fmla="val 6134"/>
            </a:avLst>
          </a:prstGeom>
          <a:noFill/>
          <a:ln w="7620">
            <a:solidFill>
              <a:srgbClr val="e0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1257840" y="605520"/>
            <a:ext cx="17157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04f00"/>
                </a:solidFill>
                <a:latin typeface="DM Sans"/>
                <a:ea typeface="DM Sans"/>
              </a:rPr>
              <a:t>SYSTEM 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132920" y="999720"/>
            <a:ext cx="67194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051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20202"/>
                </a:solidFill>
                <a:latin typeface="PT Serif"/>
                <a:ea typeface="PT Serif"/>
              </a:rPr>
              <a:t>Data-Driven Trading Pipeline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1132920" y="1934280"/>
            <a:ext cx="6181920" cy="781560"/>
          </a:xfrm>
          <a:prstGeom prst="rect">
            <a:avLst/>
          </a:prstGeom>
          <a:ln w="0">
            <a:noFill/>
          </a:ln>
        </p:spPr>
      </p:pic>
      <p:sp>
        <p:nvSpPr>
          <p:cNvPr id="93" name="Text 3"/>
          <p:cNvSpPr/>
          <p:nvPr/>
        </p:nvSpPr>
        <p:spPr>
          <a:xfrm>
            <a:off x="1328400" y="2911680"/>
            <a:ext cx="2565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383838"/>
                </a:solidFill>
                <a:latin typeface="PT Serif"/>
                <a:ea typeface="PT Serif"/>
              </a:rPr>
              <a:t>IEX Market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1328400" y="3349440"/>
            <a:ext cx="579096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Real-time price feeds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2"/>
          <a:stretch/>
        </p:blipFill>
        <p:spPr>
          <a:xfrm>
            <a:off x="7315200" y="1934280"/>
            <a:ext cx="6181920" cy="781560"/>
          </a:xfrm>
          <a:prstGeom prst="rect">
            <a:avLst/>
          </a:prstGeom>
          <a:ln w="0">
            <a:noFill/>
          </a:ln>
        </p:spPr>
      </p:pic>
      <p:sp>
        <p:nvSpPr>
          <p:cNvPr id="96" name="Text 5"/>
          <p:cNvSpPr/>
          <p:nvPr/>
        </p:nvSpPr>
        <p:spPr>
          <a:xfrm>
            <a:off x="7510680" y="2911680"/>
            <a:ext cx="2565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383838"/>
                </a:solidFill>
                <a:latin typeface="PT Serif"/>
                <a:ea typeface="PT Serif"/>
              </a:rPr>
              <a:t>ML Models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7510680" y="3349440"/>
            <a:ext cx="579096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Price &amp; demand forecasting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3"/>
          <a:stretch/>
        </p:blipFill>
        <p:spPr>
          <a:xfrm>
            <a:off x="1132920" y="3857760"/>
            <a:ext cx="6181920" cy="781560"/>
          </a:xfrm>
          <a:prstGeom prst="rect">
            <a:avLst/>
          </a:prstGeom>
          <a:ln w="0">
            <a:noFill/>
          </a:ln>
        </p:spPr>
      </p:pic>
      <p:sp>
        <p:nvSpPr>
          <p:cNvPr id="99" name="Text 7"/>
          <p:cNvSpPr/>
          <p:nvPr/>
        </p:nvSpPr>
        <p:spPr>
          <a:xfrm>
            <a:off x="1328400" y="4835160"/>
            <a:ext cx="2565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383838"/>
                </a:solidFill>
                <a:latin typeface="PT Serif"/>
                <a:ea typeface="PT Serif"/>
              </a:rPr>
              <a:t>Trading Signals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1328400" y="5272920"/>
            <a:ext cx="579096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Buy/sell decisions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Image 3" descr="preencoded.png"/>
          <p:cNvPicPr/>
          <p:nvPr/>
        </p:nvPicPr>
        <p:blipFill>
          <a:blip r:embed="rId4"/>
          <a:stretch/>
        </p:blipFill>
        <p:spPr>
          <a:xfrm>
            <a:off x="7315200" y="3857760"/>
            <a:ext cx="6181920" cy="781560"/>
          </a:xfrm>
          <a:prstGeom prst="rect">
            <a:avLst/>
          </a:prstGeom>
          <a:ln w="0">
            <a:noFill/>
          </a:ln>
        </p:spPr>
      </p:pic>
      <p:sp>
        <p:nvSpPr>
          <p:cNvPr id="102" name="Text 9"/>
          <p:cNvSpPr/>
          <p:nvPr/>
        </p:nvSpPr>
        <p:spPr>
          <a:xfrm>
            <a:off x="7510680" y="4835160"/>
            <a:ext cx="2565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383838"/>
                </a:solidFill>
                <a:latin typeface="PT Serif"/>
                <a:ea typeface="PT Serif"/>
              </a:rPr>
              <a:t>Battery Dispatch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7510680" y="5272920"/>
            <a:ext cx="579096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Charge/discharge control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1132920" y="6074280"/>
            <a:ext cx="307836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20202"/>
                </a:solidFill>
                <a:latin typeface="PT Serif"/>
                <a:ea typeface="PT Serif"/>
              </a:rPr>
              <a:t>Core Components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1132920" y="6927840"/>
            <a:ext cx="376020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Price Forecasting Engine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1132920" y="7309080"/>
            <a:ext cx="376020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Demand Prediction System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5378040" y="6927840"/>
            <a:ext cx="376020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Dispatch Optimizer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5378040" y="7309080"/>
            <a:ext cx="376020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RESTful API Layer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9623520" y="6927840"/>
            <a:ext cx="388872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Python, XGBoost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9623520" y="7309080"/>
            <a:ext cx="3888720" cy="3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4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83838"/>
                </a:solidFill>
                <a:latin typeface="DM Sans"/>
                <a:ea typeface="DM Sans"/>
              </a:rPr>
              <a:t>Flask, React Dashboard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767520" y="777600"/>
            <a:ext cx="760140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649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020202"/>
                </a:solidFill>
                <a:latin typeface="PT Serif"/>
                <a:ea typeface="PT Serif"/>
              </a:rPr>
              <a:t>Battery System Specifications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67520" y="2045160"/>
            <a:ext cx="30679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5649"/>
              </a:lnSpc>
              <a:tabLst>
                <a:tab algn="l" pos="0"/>
              </a:tabLst>
            </a:pPr>
            <a:r>
              <a:rPr b="0" lang="en-US" sz="5650" spc="-1" strike="noStrike">
                <a:solidFill>
                  <a:srgbClr val="383838"/>
                </a:solidFill>
                <a:latin typeface="PT Serif"/>
                <a:ea typeface="PT Serif"/>
              </a:rPr>
              <a:t>100</a:t>
            </a:r>
            <a:endParaRPr b="0" lang="en-US" sz="5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862560" y="3043080"/>
            <a:ext cx="28782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8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83838"/>
                </a:solidFill>
                <a:latin typeface="PT Serif"/>
                <a:ea typeface="PT Serif"/>
              </a:rPr>
              <a:t>MWh Capacity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767520" y="3534480"/>
            <a:ext cx="30679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83838"/>
                </a:solidFill>
                <a:latin typeface="DM Sans"/>
                <a:ea typeface="DM Sans"/>
              </a:rPr>
              <a:t>Total energy storage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4109760" y="2045160"/>
            <a:ext cx="30679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5649"/>
              </a:lnSpc>
              <a:tabLst>
                <a:tab algn="l" pos="0"/>
              </a:tabLst>
            </a:pPr>
            <a:r>
              <a:rPr b="0" lang="en-US" sz="5650" spc="-1" strike="noStrike">
                <a:solidFill>
                  <a:srgbClr val="383838"/>
                </a:solidFill>
                <a:latin typeface="PT Serif"/>
                <a:ea typeface="PT Serif"/>
              </a:rPr>
              <a:t>25</a:t>
            </a:r>
            <a:endParaRPr b="0" lang="en-US" sz="5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4204800" y="3043080"/>
            <a:ext cx="28782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8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83838"/>
                </a:solidFill>
                <a:latin typeface="PT Serif"/>
                <a:ea typeface="PT Serif"/>
              </a:rPr>
              <a:t>MW Power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4109760" y="3534480"/>
            <a:ext cx="30679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83838"/>
                </a:solidFill>
                <a:latin typeface="DM Sans"/>
                <a:ea typeface="DM Sans"/>
              </a:rPr>
              <a:t>Max charge/discharge rate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7452360" y="2045160"/>
            <a:ext cx="30679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5649"/>
              </a:lnSpc>
              <a:tabLst>
                <a:tab algn="l" pos="0"/>
              </a:tabLst>
            </a:pPr>
            <a:r>
              <a:rPr b="0" lang="en-US" sz="5650" spc="-1" strike="noStrike">
                <a:solidFill>
                  <a:srgbClr val="383838"/>
                </a:solidFill>
                <a:latin typeface="PT Serif"/>
                <a:ea typeface="PT Serif"/>
              </a:rPr>
              <a:t>95%</a:t>
            </a:r>
            <a:endParaRPr b="0" lang="en-US" sz="5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7547040" y="3043080"/>
            <a:ext cx="28782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8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83838"/>
                </a:solidFill>
                <a:latin typeface="PT Serif"/>
                <a:ea typeface="PT Serif"/>
              </a:rPr>
              <a:t>Efficiency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7452360" y="3534480"/>
            <a:ext cx="30679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83838"/>
                </a:solidFill>
                <a:latin typeface="DM Sans"/>
                <a:ea typeface="DM Sans"/>
              </a:rPr>
              <a:t>Round-trip energy retention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10794600" y="2045160"/>
            <a:ext cx="30679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5649"/>
              </a:lnSpc>
              <a:tabLst>
                <a:tab algn="l" pos="0"/>
              </a:tabLst>
            </a:pPr>
            <a:r>
              <a:rPr b="0" lang="en-US" sz="5650" spc="-1" strike="noStrike">
                <a:solidFill>
                  <a:srgbClr val="383838"/>
                </a:solidFill>
                <a:latin typeface="PT Serif"/>
                <a:ea typeface="PT Serif"/>
              </a:rPr>
              <a:t>20%</a:t>
            </a:r>
            <a:endParaRPr b="0" lang="en-US" sz="5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10889280" y="3043080"/>
            <a:ext cx="28782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8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83838"/>
                </a:solidFill>
                <a:latin typeface="PT Serif"/>
                <a:ea typeface="PT Serif"/>
              </a:rPr>
              <a:t>Min SOC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10794600" y="3534480"/>
            <a:ext cx="30679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83838"/>
                </a:solidFill>
                <a:latin typeface="DM Sans"/>
                <a:ea typeface="DM Sans"/>
              </a:rPr>
              <a:t>Grid stability reserve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781240" y="4433400"/>
            <a:ext cx="30679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5649"/>
              </a:lnSpc>
              <a:tabLst>
                <a:tab algn="l" pos="0"/>
              </a:tabLst>
            </a:pPr>
            <a:r>
              <a:rPr b="0" lang="en-US" sz="5650" spc="-1" strike="noStrike">
                <a:solidFill>
                  <a:srgbClr val="383838"/>
                </a:solidFill>
                <a:latin typeface="PT Serif"/>
                <a:ea typeface="PT Serif"/>
              </a:rPr>
              <a:t>80</a:t>
            </a:r>
            <a:endParaRPr b="0" lang="en-US" sz="5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875920" y="5431320"/>
            <a:ext cx="28782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8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383838"/>
                </a:solidFill>
                <a:latin typeface="PT Serif"/>
                <a:ea typeface="PT Serif"/>
              </a:rPr>
              <a:t>MWh Usable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781240" y="5922720"/>
            <a:ext cx="30679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83838"/>
                </a:solidFill>
                <a:latin typeface="DM Sans"/>
                <a:ea typeface="DM Sans"/>
              </a:rPr>
              <a:t>Per trading cycle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767520" y="6520320"/>
            <a:ext cx="13095000" cy="931680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1"/>
          <a:stretch/>
        </p:blipFill>
        <p:spPr>
          <a:xfrm>
            <a:off x="986760" y="6853680"/>
            <a:ext cx="273600" cy="218880"/>
          </a:xfrm>
          <a:prstGeom prst="rect">
            <a:avLst/>
          </a:prstGeom>
          <a:ln w="0">
            <a:noFill/>
          </a:ln>
        </p:spPr>
      </p:pic>
      <p:sp>
        <p:nvSpPr>
          <p:cNvPr id="129" name="Text 17"/>
          <p:cNvSpPr/>
          <p:nvPr/>
        </p:nvSpPr>
        <p:spPr>
          <a:xfrm>
            <a:off x="1480320" y="6794280"/>
            <a:ext cx="1216296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DM Sans"/>
                <a:ea typeface="DM Sans"/>
              </a:rPr>
              <a:t>Grid Reserve Protocol:</a:t>
            </a:r>
            <a:r>
              <a:rPr b="0" lang="en-US" sz="1700" spc="-1" strike="noStrike">
                <a:solidFill>
                  <a:srgbClr val="000000"/>
                </a:solidFill>
                <a:latin typeface="DM Sans"/>
                <a:ea typeface="DM Sans"/>
              </a:rPr>
              <a:t> 20% minimum State of Charge maintained at all times for emergency grid stabilization services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2849760" y="388440"/>
            <a:ext cx="1704240" cy="264960"/>
          </a:xfrm>
          <a:prstGeom prst="roundRect">
            <a:avLst>
              <a:gd name="adj" fmla="val 6387"/>
            </a:avLst>
          </a:prstGeom>
          <a:solidFill>
            <a:srgbClr val="ffde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934360" y="464760"/>
            <a:ext cx="112680" cy="112680"/>
          </a:xfrm>
          <a:prstGeom prst="rect">
            <a:avLst/>
          </a:prstGeom>
          <a:ln w="0">
            <a:noFill/>
          </a:ln>
        </p:spPr>
      </p:pic>
      <p:sp>
        <p:nvSpPr>
          <p:cNvPr id="132" name="Text 1"/>
          <p:cNvSpPr/>
          <p:nvPr/>
        </p:nvSpPr>
        <p:spPr>
          <a:xfrm>
            <a:off x="3103920" y="430920"/>
            <a:ext cx="13654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3838"/>
                </a:solidFill>
                <a:latin typeface="DM Sans"/>
                <a:ea typeface="DM Sans"/>
              </a:rPr>
              <a:t>FORECASTING ACCURACY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2849760" y="710280"/>
            <a:ext cx="478836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0" lang="en-US" sz="2900" spc="-1" strike="noStrike">
                <a:solidFill>
                  <a:srgbClr val="020202"/>
                </a:solidFill>
                <a:latin typeface="PT Serif"/>
                <a:ea typeface="PT Serif"/>
              </a:rPr>
              <a:t>ML-Powered Price Prediction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2849760" y="1526400"/>
            <a:ext cx="22233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020202"/>
                </a:solidFill>
                <a:latin typeface="PT Serif"/>
                <a:ea typeface="PT Serif"/>
              </a:rPr>
              <a:t>XGBoost Models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2849760" y="1945440"/>
            <a:ext cx="33652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Separate regression models for each market segment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2849760" y="2538000"/>
            <a:ext cx="1852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020202"/>
                </a:solidFill>
                <a:latin typeface="PT Serif"/>
                <a:ea typeface="PT Serif"/>
              </a:rPr>
              <a:t>Key Features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2849760" y="2910960"/>
            <a:ext cx="3365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Time of day patterns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2849760" y="3186000"/>
            <a:ext cx="3365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Day of week seasonality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2849760" y="3461400"/>
            <a:ext cx="3365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Historical price lags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2849760" y="3736800"/>
            <a:ext cx="3365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Demand forecasts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2849760" y="4103640"/>
            <a:ext cx="1852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020202"/>
                </a:solidFill>
                <a:latin typeface="PT Serif"/>
                <a:ea typeface="PT Serif"/>
              </a:rPr>
              <a:t>Prediction Scope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2849760" y="4476240"/>
            <a:ext cx="3365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96 time blocks (15-min intervals) forecast daily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8309160" y="2461680"/>
            <a:ext cx="17362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2750" spc="-1" strike="noStrike">
                <a:solidFill>
                  <a:srgbClr val="383838"/>
                </a:solidFill>
                <a:latin typeface="PT Serif"/>
                <a:ea typeface="PT Serif"/>
              </a:rPr>
              <a:t>22%</a:t>
            </a:r>
            <a:endParaRPr b="0" lang="en-US" sz="2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1" descr="preencoded.png"/>
          <p:cNvPicPr/>
          <p:nvPr/>
        </p:nvPicPr>
        <p:blipFill>
          <a:blip r:embed="rId3"/>
          <a:stretch/>
        </p:blipFill>
        <p:spPr>
          <a:xfrm>
            <a:off x="8118720" y="1579320"/>
            <a:ext cx="2117520" cy="2117520"/>
          </a:xfrm>
          <a:prstGeom prst="rect">
            <a:avLst/>
          </a:prstGeom>
          <a:ln w="0">
            <a:noFill/>
          </a:ln>
        </p:spPr>
      </p:pic>
      <p:sp>
        <p:nvSpPr>
          <p:cNvPr id="145" name="Text 13"/>
          <p:cNvSpPr/>
          <p:nvPr/>
        </p:nvSpPr>
        <p:spPr>
          <a:xfrm>
            <a:off x="8251200" y="3873600"/>
            <a:ext cx="1852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8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83838"/>
                </a:solidFill>
                <a:latin typeface="PT Serif"/>
                <a:ea typeface="PT Serif"/>
              </a:rPr>
              <a:t>DAM MAPE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6567480" y="4246200"/>
            <a:ext cx="522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7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Day-Ahead Market prediction error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8309160" y="5672160"/>
            <a:ext cx="173628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0" lang="en-US" sz="2750" spc="-1" strike="noStrike">
                <a:solidFill>
                  <a:srgbClr val="383838"/>
                </a:solidFill>
                <a:latin typeface="PT Serif"/>
                <a:ea typeface="PT Serif"/>
              </a:rPr>
              <a:t>13%</a:t>
            </a:r>
            <a:endParaRPr b="0" lang="en-US" sz="2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2" descr="preencoded.png"/>
          <p:cNvPicPr/>
          <p:nvPr/>
        </p:nvPicPr>
        <p:blipFill>
          <a:blip r:embed="rId4"/>
          <a:stretch/>
        </p:blipFill>
        <p:spPr>
          <a:xfrm>
            <a:off x="8118720" y="4789440"/>
            <a:ext cx="2117520" cy="2117520"/>
          </a:xfrm>
          <a:prstGeom prst="rect">
            <a:avLst/>
          </a:prstGeom>
          <a:ln w="0">
            <a:noFill/>
          </a:ln>
        </p:spPr>
      </p:pic>
      <p:sp>
        <p:nvSpPr>
          <p:cNvPr id="149" name="Text 16"/>
          <p:cNvSpPr/>
          <p:nvPr/>
        </p:nvSpPr>
        <p:spPr>
          <a:xfrm>
            <a:off x="8251200" y="7083720"/>
            <a:ext cx="1852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8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383838"/>
                </a:solidFill>
                <a:latin typeface="PT Serif"/>
                <a:ea typeface="PT Serif"/>
              </a:rPr>
              <a:t>RTM MAPE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6567480" y="7456320"/>
            <a:ext cx="522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7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3838"/>
                </a:solidFill>
                <a:latin typeface="DM Sans"/>
                <a:ea typeface="DM Sans"/>
              </a:rPr>
              <a:t>Real-Time Market accuracy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1916280" y="886320"/>
            <a:ext cx="1405440" cy="320400"/>
          </a:xfrm>
          <a:prstGeom prst="roundRect">
            <a:avLst>
              <a:gd name="adj" fmla="val 6384"/>
            </a:avLst>
          </a:prstGeom>
          <a:solidFill>
            <a:srgbClr val="ffde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2018880" y="937440"/>
            <a:ext cx="12006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83838"/>
                </a:solidFill>
                <a:latin typeface="DM Sans"/>
                <a:ea typeface="DM Sans"/>
              </a:rPr>
              <a:t>MARKET STRATEGY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1916280" y="1275120"/>
            <a:ext cx="100504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0" lang="en-US" sz="3500" spc="-1" strike="noStrike">
                <a:solidFill>
                  <a:srgbClr val="020202"/>
                </a:solidFill>
                <a:latin typeface="PT Serif"/>
                <a:ea typeface="PT Serif"/>
              </a:rPr>
              <a:t>Dependency Flow: DAM Price Forecasting Pipeline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1916280" y="209160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1916280" y="2358720"/>
            <a:ext cx="348516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916280" y="2489760"/>
            <a:ext cx="22402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Input Data Sources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1916280" y="2872080"/>
            <a:ext cx="3485160" cy="10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Weather Data • Calendar Data • Historical Demand • Historical Solar Generation • Historical Wind Generation • IEX DAM Market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5572440" y="209160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5572440" y="2358720"/>
            <a:ext cx="348516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5572440" y="2489760"/>
            <a:ext cx="27259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Demand Forecasting Model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5572440" y="2872080"/>
            <a:ext cx="348516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Inputs: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Weather + Calendar + Demand Lags → </a:t>
            </a: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Output: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Demand Forecast (15-min blocks, next day)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9228600" y="209160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>
            <a:off x="9228600" y="2358720"/>
            <a:ext cx="348516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9228600" y="2489760"/>
            <a:ext cx="240120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Solar Forecasting Model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9228600" y="2872080"/>
            <a:ext cx="34851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Inputs: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Weather + Solar Lags → </a:t>
            </a: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Output: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Solar Generation Forecast (15-min blocks)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1916280" y="426312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1916280" y="4530240"/>
            <a:ext cx="348516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1916280" y="4661280"/>
            <a:ext cx="24249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Wind Forecasting Model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1916280" y="5043600"/>
            <a:ext cx="34851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Inputs: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Weather + Wind Lags → </a:t>
            </a: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Output: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Wind Generation Forecast (15-min blocks)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5572440" y="426312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5572440" y="4530240"/>
            <a:ext cx="348516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5572440" y="4661280"/>
            <a:ext cx="28825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Total Generation Calculation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5572440" y="5043600"/>
            <a:ext cx="3485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Formula: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Solar Forecast + Wind Forecast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9228600" y="426312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9228600" y="4530240"/>
            <a:ext cx="348516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9228600" y="4661280"/>
            <a:ext cx="22402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Net Load Calculation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9228600" y="5043600"/>
            <a:ext cx="34851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Formula: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Demand Forecast − Total Generation Forecast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1916280" y="5888520"/>
            <a:ext cx="170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3838"/>
                </a:solidFill>
                <a:latin typeface="PT Serif Light"/>
                <a:ea typeface="PT Serif Light"/>
              </a:rPr>
              <a:t>07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1916280" y="6155640"/>
            <a:ext cx="10797120" cy="22680"/>
          </a:xfrm>
          <a:prstGeom prst="rect">
            <a:avLst/>
          </a:prstGeom>
          <a:solidFill>
            <a:srgbClr val="e04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9"/>
          <p:cNvSpPr/>
          <p:nvPr/>
        </p:nvSpPr>
        <p:spPr>
          <a:xfrm>
            <a:off x="1916280" y="6286680"/>
            <a:ext cx="29386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383838"/>
                </a:solidFill>
                <a:latin typeface="PT Serif"/>
                <a:ea typeface="PT Serif"/>
              </a:rPr>
              <a:t>DAM Price Forecasting Model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0"/>
          <p:cNvSpPr/>
          <p:nvPr/>
        </p:nvSpPr>
        <p:spPr>
          <a:xfrm>
            <a:off x="1916280" y="6669000"/>
            <a:ext cx="107971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Inputs: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Net Load • Time Block • Hour • Historical DAM Prices (Lag-96, Lag-672) • Final Scheduled Volume → </a:t>
            </a:r>
            <a:r>
              <a:rPr b="1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Output:</a:t>
            </a:r>
            <a:r>
              <a:rPr b="0" lang="en-US" sz="1300" spc="-1" strike="noStrike">
                <a:solidFill>
                  <a:srgbClr val="383838"/>
                </a:solidFill>
                <a:latin typeface="DM Sans"/>
                <a:ea typeface="DM Sans"/>
              </a:rPr>
              <a:t> DAM Price Forecast (₹/MWh)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793800" y="3742560"/>
            <a:ext cx="59536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851"/>
              </a:lnSpc>
              <a:tabLst>
                <a:tab algn="l" pos="0"/>
              </a:tabLst>
            </a:pPr>
            <a:endParaRPr b="0" lang="en-US" sz="4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tretch/>
        </p:blipFill>
        <p:spPr>
          <a:xfrm>
            <a:off x="0" y="-3200400"/>
            <a:ext cx="14630400" cy="1234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2026-01-25T00:45:24Z</dcterms:created>
  <dc:creator/>
  <dc:description/>
  <dc:language>en-US</dc:language>
  <cp:lastModifiedBy/>
  <dcterms:modified xsi:type="dcterms:W3CDTF">2026-01-25T06:26:48Z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